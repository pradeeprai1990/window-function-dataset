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85129D94-F2C8-4694-0CD9-E0EDDDED2895}">
          <p14:sldIdLst>
            <p14:sldId id="256"/>
            <p14:sldId id="257"/>
            <p14:sldId id="258"/>
            <p14:sldId id="259"/>
            <p14:sldId id="260"/>
          </p14:sldIdLst>
        </p14:section>
        <p14:section name="Core Examples" id="{4187B9E4-E829-F3EA-9AE2-0D3150A8D99C}">
          <p14:sldIdLst>
            <p14:sldId id="261"/>
            <p14:sldId id="262"/>
            <p14:sldId id="263"/>
            <p14:sldId id="264"/>
            <p14:sldId id="265"/>
          </p14:sldIdLst>
        </p14:section>
        <p14:section name="Gotchas" id="{DBA671CD-2A57-6BC4-F4E6-B987E0EB15F9}">
          <p14:sldIdLst>
            <p14:sldId id="266"/>
            <p14:sldId id="267"/>
            <p14:sldId id="268"/>
          </p14:sldIdLst>
        </p14:section>
        <p14:section name="Rules &amp; Reference" id="{0F478731-5FC1-067E-92A3-910B49C955D4}">
          <p14:sldIdLst>
            <p14:sldId id="269"/>
            <p14:sldId id="270"/>
            <p14:sldId id="271"/>
          </p14:sldIdLst>
        </p14:section>
        <p14:section name="Wrap-up" id="{CFF76836-C2E6-5FA9-27E9-514C7779945D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0F3D3E"/>
                </a:solidFill>
                <a:latin typeface="+mj-lt"/>
              </a:defRPr>
            </a:pPr>
            <a:r>
              <a:rPr lang="en-IN" sz="1600" b="0" i="0" u="none" strike="noStrike">
                <a:solidFill>
                  <a:srgbClr val="0F3D3E"/>
                </a:solidFill>
                <a:latin typeface="+mj-lt"/>
              </a:rPr>
              <a:t>Daily sales amount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amount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7202E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100</c:v>
                </c:pt>
                <c:pt idx="1">
                  <c:v>200</c:v>
                </c:pt>
                <c:pt idx="2">
                  <c:v>150</c:v>
                </c:pt>
                <c:pt idx="3">
                  <c:v>300</c:v>
                </c:pt>
                <c:pt idx="4">
                  <c:v>250</c:v>
                </c:pt>
                <c:pt idx="5">
                  <c:v>400</c:v>
                </c:pt>
                <c:pt idx="6">
                  <c:v>350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A7-4ECF-B2AA-F40A459A031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B9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A8B9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9119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69494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4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383280"/>
            <a:ext cx="69494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marL="0" indent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SQL Window Frames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SQL Window Frames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Window Frames</a:t>
            </a:r>
            <a:endParaRPr lang="en-US" sz="4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38328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</a:rPr>
              <a:t>ROWS, RANGE &amp; GROUPS — a complete explanation with simple examples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754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English edition</a:t>
            </a:r>
            <a:endParaRPr lang="en-US" sz="1400" dirty="0"/>
          </a:p>
        </p:txBody>
      </p:sp>
      <p:sp>
        <p:nvSpPr>
          <p:cNvPr id="5" name="Row 1"/>
          <p:cNvSpPr/>
          <p:nvPr/>
        </p:nvSpPr>
        <p:spPr>
          <a:xfrm>
            <a:off x="8503920" y="1188720"/>
            <a:ext cx="2926080" cy="50292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0" y="1188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Mon</a:t>
            </a:r>
            <a:r>
              <a:rPr lang="en-US" sz="1500" dirty="0">
                <a:solidFill>
                  <a:schemeClr val="bg1"/>
                </a:solidFill>
              </a:rPr>
              <a:t>   100</a:t>
            </a:r>
            <a:endParaRPr lang="en-US" sz="1500" dirty="0"/>
          </a:p>
        </p:txBody>
      </p:sp>
      <p:sp>
        <p:nvSpPr>
          <p:cNvPr id="7" name="Row 2"/>
          <p:cNvSpPr/>
          <p:nvPr/>
        </p:nvSpPr>
        <p:spPr>
          <a:xfrm>
            <a:off x="8503920" y="1810512"/>
            <a:ext cx="2926080" cy="50292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0" y="181051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Tue</a:t>
            </a:r>
            <a:r>
              <a:rPr lang="en-US" sz="1500" dirty="0">
                <a:solidFill>
                  <a:schemeClr val="bg1"/>
                </a:solidFill>
              </a:rPr>
              <a:t>   200</a:t>
            </a:r>
            <a:endParaRPr lang="en-US" sz="1500" dirty="0"/>
          </a:p>
        </p:txBody>
      </p:sp>
      <p:sp>
        <p:nvSpPr>
          <p:cNvPr id="9" name="Row 3"/>
          <p:cNvSpPr/>
          <p:nvPr/>
        </p:nvSpPr>
        <p:spPr>
          <a:xfrm>
            <a:off x="8503920" y="2432304"/>
            <a:ext cx="2926080" cy="502920"/>
          </a:xfrm>
          <a:prstGeom prst="roundRect">
            <a:avLst>
              <a:gd name="adj" fmla="val 1090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0" y="243230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Wed</a:t>
            </a:r>
            <a:r>
              <a:rPr lang="en-US" sz="1500" dirty="0">
                <a:solidFill>
                  <a:schemeClr val="bg1"/>
                </a:solidFill>
              </a:rPr>
              <a:t>   150</a:t>
            </a:r>
            <a:endParaRPr lang="en-US" sz="1500" dirty="0"/>
          </a:p>
        </p:txBody>
      </p:sp>
      <p:sp>
        <p:nvSpPr>
          <p:cNvPr id="11" name="Row 4"/>
          <p:cNvSpPr/>
          <p:nvPr/>
        </p:nvSpPr>
        <p:spPr>
          <a:xfrm>
            <a:off x="8503920" y="3054096"/>
            <a:ext cx="2926080" cy="502920"/>
          </a:xfrm>
          <a:prstGeom prst="roundRect">
            <a:avLst>
              <a:gd name="adj" fmla="val 1090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0" y="305409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Thu</a:t>
            </a:r>
            <a:r>
              <a:rPr lang="en-US" sz="1500" dirty="0">
                <a:solidFill>
                  <a:schemeClr val="bg1"/>
                </a:solidFill>
              </a:rPr>
              <a:t>   300</a:t>
            </a:r>
            <a:endParaRPr lang="en-US" sz="1500" dirty="0"/>
          </a:p>
        </p:txBody>
      </p:sp>
      <p:sp>
        <p:nvSpPr>
          <p:cNvPr id="13" name="Row 5"/>
          <p:cNvSpPr/>
          <p:nvPr/>
        </p:nvSpPr>
        <p:spPr>
          <a:xfrm>
            <a:off x="8503920" y="3675888"/>
            <a:ext cx="2926080" cy="502920"/>
          </a:xfrm>
          <a:prstGeom prst="roundRect">
            <a:avLst>
              <a:gd name="adj" fmla="val 1090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0" y="367588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Fri</a:t>
            </a:r>
            <a:r>
              <a:rPr lang="en-US" sz="1500" dirty="0">
                <a:solidFill>
                  <a:schemeClr val="tx1"/>
                </a:solidFill>
              </a:rPr>
              <a:t>   250</a:t>
            </a:r>
            <a:endParaRPr lang="en-US" sz="1500" dirty="0"/>
          </a:p>
        </p:txBody>
      </p:sp>
      <p:sp>
        <p:nvSpPr>
          <p:cNvPr id="15" name="Row 6"/>
          <p:cNvSpPr/>
          <p:nvPr/>
        </p:nvSpPr>
        <p:spPr>
          <a:xfrm>
            <a:off x="8503920" y="4297680"/>
            <a:ext cx="2926080" cy="50292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0" y="42976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Sat</a:t>
            </a:r>
            <a:r>
              <a:rPr lang="en-US" sz="1500" dirty="0">
                <a:solidFill>
                  <a:schemeClr val="bg1"/>
                </a:solidFill>
              </a:rPr>
              <a:t>   400</a:t>
            </a:r>
            <a:endParaRPr lang="en-US" sz="1500" dirty="0"/>
          </a:p>
        </p:txBody>
      </p:sp>
      <p:sp>
        <p:nvSpPr>
          <p:cNvPr id="17" name="Row 7"/>
          <p:cNvSpPr/>
          <p:nvPr/>
        </p:nvSpPr>
        <p:spPr>
          <a:xfrm>
            <a:off x="8503920" y="4919472"/>
            <a:ext cx="2926080" cy="50292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0" y="491947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Sun</a:t>
            </a:r>
            <a:r>
              <a:rPr lang="en-US" sz="1500" dirty="0">
                <a:solidFill>
                  <a:schemeClr val="bg1"/>
                </a:solidFill>
              </a:rPr>
              <a:t>   350</a:t>
            </a:r>
            <a:endParaRPr lang="en-US" sz="1500" dirty="0"/>
          </a:p>
        </p:txBody>
      </p:sp>
      <p:sp>
        <p:nvSpPr>
          <p:cNvPr id="19" name="Frame brace"/>
          <p:cNvSpPr/>
          <p:nvPr/>
        </p:nvSpPr>
        <p:spPr>
          <a:xfrm>
            <a:off x="11521440" y="2432304"/>
            <a:ext cx="228600" cy="1746504"/>
          </a:xfrm>
          <a:prstGeom prst="rightBrac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1247120" y="202082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2"/>
                </a:solidFill>
              </a:rPr>
              <a:t>frame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Window Frame?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A window function calculates a value for every row by looking at a set of related rows — without collapsing them like GROUP BY does.</a:t>
            </a:r>
            <a:endParaRPr lang="en-US" sz="1700" dirty="0"/>
          </a:p>
        </p:txBody>
      </p:sp>
      <p:sp>
        <p:nvSpPr>
          <p:cNvPr id="4" name="Number 1"/>
          <p:cNvSpPr/>
          <p:nvPr/>
        </p:nvSpPr>
        <p:spPr>
          <a:xfrm>
            <a:off x="548640" y="24231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3774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Partition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74320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The group of rows (PARTITION BY). Calculations never cross it.</a:t>
            </a:r>
            <a:endParaRPr lang="en-US" sz="1500" dirty="0"/>
          </a:p>
        </p:txBody>
      </p:sp>
      <p:sp>
        <p:nvSpPr>
          <p:cNvPr id="8" name="Number 2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6118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Order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97764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The sequence of rows inside the partition (ORDER BY).</a:t>
            </a:r>
            <a:endParaRPr lang="en-US" sz="1500" dirty="0"/>
          </a:p>
        </p:txBody>
      </p:sp>
      <p:sp>
        <p:nvSpPr>
          <p:cNvPr id="12" name="Number 3"/>
          <p:cNvSpPr/>
          <p:nvPr/>
        </p:nvSpPr>
        <p:spPr>
          <a:xfrm>
            <a:off x="548640" y="48920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892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8463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Frame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521208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The sliding subset of rows around the current row that the function actually uses.</a:t>
            </a:r>
            <a:endParaRPr lang="en-US" sz="1500" dirty="0"/>
          </a:p>
        </p:txBody>
      </p:sp>
      <p:sp>
        <p:nvSpPr>
          <p:cNvPr id="16" name="Partition outline"/>
          <p:cNvSpPr/>
          <p:nvPr/>
        </p:nvSpPr>
        <p:spPr>
          <a:xfrm>
            <a:off x="7452360" y="1143000"/>
            <a:ext cx="3383280" cy="4562856"/>
          </a:xfrm>
          <a:prstGeom prst="roundRect">
            <a:avLst>
              <a:gd name="adj" fmla="val 2703"/>
            </a:avLst>
          </a:prstGeom>
          <a:solidFill>
            <a:srgbClr val="F4F8F7"/>
          </a:solidFill>
          <a:ln w="12700">
            <a:solidFill>
              <a:schemeClr val="accent5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7589520" y="11704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PARTITION</a:t>
            </a:r>
            <a:endParaRPr lang="en-US" sz="1200" dirty="0"/>
          </a:p>
        </p:txBody>
      </p:sp>
      <p:sp>
        <p:nvSpPr>
          <p:cNvPr id="18" name="Row 1"/>
          <p:cNvSpPr/>
          <p:nvPr/>
        </p:nvSpPr>
        <p:spPr>
          <a:xfrm>
            <a:off x="7680960" y="1554480"/>
            <a:ext cx="2926080" cy="4572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rgbClr val="C9D6D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863840" y="1554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Row 1</a:t>
            </a:r>
            <a:endParaRPr lang="en-US" sz="1400" dirty="0"/>
          </a:p>
        </p:txBody>
      </p:sp>
      <p:sp>
        <p:nvSpPr>
          <p:cNvPr id="20" name="Row 2"/>
          <p:cNvSpPr/>
          <p:nvPr/>
        </p:nvSpPr>
        <p:spPr>
          <a:xfrm>
            <a:off x="7680960" y="2121408"/>
            <a:ext cx="2926080" cy="4572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rgbClr val="C9D6D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63840" y="212140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Row 2</a:t>
            </a:r>
            <a:endParaRPr lang="en-US" sz="1400" dirty="0"/>
          </a:p>
        </p:txBody>
      </p:sp>
      <p:sp>
        <p:nvSpPr>
          <p:cNvPr id="22" name="Row 3"/>
          <p:cNvSpPr/>
          <p:nvPr/>
        </p:nvSpPr>
        <p:spPr>
          <a:xfrm>
            <a:off x="7680960" y="2688336"/>
            <a:ext cx="2926080" cy="4572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863840" y="268833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Row 3</a:t>
            </a:r>
            <a:endParaRPr lang="en-US" sz="1400" dirty="0"/>
          </a:p>
        </p:txBody>
      </p:sp>
      <p:sp>
        <p:nvSpPr>
          <p:cNvPr id="24" name="Row 4"/>
          <p:cNvSpPr/>
          <p:nvPr/>
        </p:nvSpPr>
        <p:spPr>
          <a:xfrm>
            <a:off x="7680960" y="3255264"/>
            <a:ext cx="2926080" cy="4572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863840" y="325526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Row 4</a:t>
            </a:r>
            <a:endParaRPr lang="en-US" sz="1400" dirty="0"/>
          </a:p>
        </p:txBody>
      </p:sp>
      <p:sp>
        <p:nvSpPr>
          <p:cNvPr id="26" name="Row 5"/>
          <p:cNvSpPr/>
          <p:nvPr/>
        </p:nvSpPr>
        <p:spPr>
          <a:xfrm>
            <a:off x="7680960" y="3822192"/>
            <a:ext cx="2926080" cy="45720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863840" y="38221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Row 5</a:t>
            </a:r>
            <a:endParaRPr lang="en-US" sz="1400" dirty="0"/>
          </a:p>
        </p:txBody>
      </p:sp>
      <p:sp>
        <p:nvSpPr>
          <p:cNvPr id="28" name="Row 6"/>
          <p:cNvSpPr/>
          <p:nvPr/>
        </p:nvSpPr>
        <p:spPr>
          <a:xfrm>
            <a:off x="7680960" y="4389120"/>
            <a:ext cx="2926080" cy="4572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rgbClr val="C9D6D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863840" y="4389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Row 6</a:t>
            </a:r>
            <a:endParaRPr lang="en-US" sz="1400" dirty="0"/>
          </a:p>
        </p:txBody>
      </p:sp>
      <p:sp>
        <p:nvSpPr>
          <p:cNvPr id="30" name="Row 7"/>
          <p:cNvSpPr/>
          <p:nvPr/>
        </p:nvSpPr>
        <p:spPr>
          <a:xfrm>
            <a:off x="7680960" y="4956048"/>
            <a:ext cx="2926080" cy="4572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rgbClr val="C9D6D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863840" y="49560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Row 7</a:t>
            </a:r>
            <a:endParaRPr lang="en-US" sz="1400" dirty="0"/>
          </a:p>
        </p:txBody>
      </p:sp>
      <p:sp>
        <p:nvSpPr>
          <p:cNvPr id="32" name="Frame brace"/>
          <p:cNvSpPr/>
          <p:nvPr/>
        </p:nvSpPr>
        <p:spPr>
          <a:xfrm>
            <a:off x="10927080" y="2688336"/>
            <a:ext cx="228600" cy="1591056"/>
          </a:xfrm>
          <a:prstGeom prst="rightBrac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1201400" y="319125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FRAME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9144000" y="38221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chemeClr val="tx1"/>
                </a:solidFill>
              </a:rPr>
              <a:t>current row</a:t>
            </a:r>
            <a:endParaRPr lang="en-US" sz="12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 Syntax</a:t>
            </a:r>
            <a:endParaRPr lang="en-US" sz="3200" dirty="0"/>
          </a:p>
        </p:txBody>
      </p:sp>
      <p:sp>
        <p:nvSpPr>
          <p:cNvPr id="3" name="Code background"/>
          <p:cNvSpPr/>
          <p:nvPr/>
        </p:nvSpPr>
        <p:spPr>
          <a:xfrm>
            <a:off x="548640" y="1280160"/>
            <a:ext cx="11064240" cy="2011680"/>
          </a:xfrm>
          <a:prstGeom prst="roundRect">
            <a:avLst>
              <a:gd name="adj" fmla="val 363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ode"/>
          <p:cNvSpPr txBox="1"/>
          <p:nvPr/>
        </p:nvSpPr>
        <p:spPr>
          <a:xfrm>
            <a:off x="731520" y="1389888"/>
            <a:ext cx="1069848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function_name(column) OVER (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PARTITION BY ...      -- optional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 BY ...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ROWS | RANGE | GROUPS BETWEEN &lt;start&gt; AND &lt;end&gt;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2000" dirty="0"/>
          </a:p>
        </p:txBody>
      </p:sp>
      <p:sp>
        <p:nvSpPr>
          <p:cNvPr id="5" name="Card"/>
          <p:cNvSpPr/>
          <p:nvPr/>
        </p:nvSpPr>
        <p:spPr>
          <a:xfrm>
            <a:off x="548640" y="3611880"/>
            <a:ext cx="3474720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umber 1"/>
          <p:cNvSpPr/>
          <p:nvPr/>
        </p:nvSpPr>
        <p:spPr>
          <a:xfrm>
            <a:off x="777240" y="37947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37947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Frame unit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480560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ROWS — counts physical rows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RANGE — uses the ORDER BY value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GROUPS — counts groups of equal values</a:t>
            </a:r>
            <a:endParaRPr lang="en-US" sz="1500" dirty="0"/>
          </a:p>
        </p:txBody>
      </p:sp>
      <p:sp>
        <p:nvSpPr>
          <p:cNvPr id="10" name="Card"/>
          <p:cNvSpPr/>
          <p:nvPr/>
        </p:nvSpPr>
        <p:spPr>
          <a:xfrm>
            <a:off x="4343400" y="3611880"/>
            <a:ext cx="3474720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Number 2"/>
          <p:cNvSpPr/>
          <p:nvPr/>
        </p:nvSpPr>
        <p:spPr>
          <a:xfrm>
            <a:off x="4572000" y="37947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212080" y="37947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&lt;start&gt; boundary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4480560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UNBOUNDED PRECEDING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PRECEDING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 ROW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8138160" y="3611880"/>
            <a:ext cx="3474720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Number 3"/>
          <p:cNvSpPr/>
          <p:nvPr/>
        </p:nvSpPr>
        <p:spPr>
          <a:xfrm>
            <a:off x="8366760" y="37947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6676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006840" y="37947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&lt;end&gt; boundary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366760" y="4480560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 ROW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FOLLOWING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UNBOUNDED FOLLOWING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 Boundaries — Visual Guide</a:t>
            </a:r>
            <a:endParaRPr lang="en-US" sz="3200" dirty="0"/>
          </a:p>
        </p:txBody>
      </p:sp>
      <p:sp>
        <p:nvSpPr>
          <p:cNvPr id="3" name="Row 1"/>
          <p:cNvSpPr/>
          <p:nvPr/>
        </p:nvSpPr>
        <p:spPr>
          <a:xfrm>
            <a:off x="822960" y="1463040"/>
            <a:ext cx="1005840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rgbClr val="C9D6D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Row 1</a:t>
            </a:r>
            <a:endParaRPr lang="en-US" sz="1400" dirty="0"/>
          </a:p>
        </p:txBody>
      </p:sp>
      <p:sp>
        <p:nvSpPr>
          <p:cNvPr id="5" name="Pointer"/>
          <p:cNvSpPr/>
          <p:nvPr/>
        </p:nvSpPr>
        <p:spPr>
          <a:xfrm>
            <a:off x="1325880" y="2240280"/>
            <a:ext cx="0" cy="36576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headEnd type="triangle"/>
          </a:ln>
        </p:spPr>
      </p:sp>
      <p:sp>
        <p:nvSpPr>
          <p:cNvPr id="6" name="Text 4"/>
          <p:cNvSpPr txBox="1"/>
          <p:nvPr/>
        </p:nvSpPr>
        <p:spPr>
          <a:xfrm>
            <a:off x="411480" y="26517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UNBOUNDED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PRECEDING</a:t>
            </a:r>
            <a:endParaRPr lang="en-US" sz="1300" dirty="0"/>
          </a:p>
        </p:txBody>
      </p:sp>
      <p:sp>
        <p:nvSpPr>
          <p:cNvPr id="7" name="Row 2"/>
          <p:cNvSpPr/>
          <p:nvPr/>
        </p:nvSpPr>
        <p:spPr>
          <a:xfrm>
            <a:off x="2011680" y="1463040"/>
            <a:ext cx="1005840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rgbClr val="C9D6D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011680" y="146304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Row 2</a:t>
            </a:r>
            <a:endParaRPr lang="en-US" sz="1400" dirty="0"/>
          </a:p>
        </p:txBody>
      </p:sp>
      <p:sp>
        <p:nvSpPr>
          <p:cNvPr id="9" name="Row 3"/>
          <p:cNvSpPr/>
          <p:nvPr/>
        </p:nvSpPr>
        <p:spPr>
          <a:xfrm>
            <a:off x="3200400" y="1463040"/>
            <a:ext cx="1005840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rgbClr val="C9D6D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00400" y="146304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Row 3</a:t>
            </a:r>
            <a:endParaRPr lang="en-US" sz="1400" dirty="0"/>
          </a:p>
        </p:txBody>
      </p:sp>
      <p:sp>
        <p:nvSpPr>
          <p:cNvPr id="11" name="Pointer"/>
          <p:cNvSpPr/>
          <p:nvPr/>
        </p:nvSpPr>
        <p:spPr>
          <a:xfrm>
            <a:off x="3703320" y="2240280"/>
            <a:ext cx="0" cy="36576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headEnd type="triangle"/>
          </a:ln>
        </p:spPr>
      </p:sp>
      <p:sp>
        <p:nvSpPr>
          <p:cNvPr id="12" name="Text 10"/>
          <p:cNvSpPr txBox="1"/>
          <p:nvPr/>
        </p:nvSpPr>
        <p:spPr>
          <a:xfrm>
            <a:off x="2788920" y="26517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PRECEDING</a:t>
            </a:r>
            <a:endParaRPr lang="en-US" sz="1300" dirty="0"/>
          </a:p>
        </p:txBody>
      </p:sp>
      <p:sp>
        <p:nvSpPr>
          <p:cNvPr id="13" name="Row 4"/>
          <p:cNvSpPr/>
          <p:nvPr/>
        </p:nvSpPr>
        <p:spPr>
          <a:xfrm>
            <a:off x="4389120" y="1463040"/>
            <a:ext cx="1005840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rgbClr val="C9D6D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389120" y="146304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Row 4</a:t>
            </a:r>
            <a:endParaRPr lang="en-US" sz="1400" dirty="0"/>
          </a:p>
        </p:txBody>
      </p:sp>
      <p:sp>
        <p:nvSpPr>
          <p:cNvPr id="15" name="Row 5"/>
          <p:cNvSpPr/>
          <p:nvPr/>
        </p:nvSpPr>
        <p:spPr>
          <a:xfrm>
            <a:off x="5577840" y="1463040"/>
            <a:ext cx="1005840" cy="731520"/>
          </a:xfrm>
          <a:prstGeom prst="roundRect">
            <a:avLst>
              <a:gd name="adj" fmla="val 75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577840" y="146304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Row 5</a:t>
            </a:r>
            <a:endParaRPr lang="en-US" sz="1400" dirty="0"/>
          </a:p>
        </p:txBody>
      </p:sp>
      <p:sp>
        <p:nvSpPr>
          <p:cNvPr id="17" name="Pointer"/>
          <p:cNvSpPr/>
          <p:nvPr/>
        </p:nvSpPr>
        <p:spPr>
          <a:xfrm>
            <a:off x="6080760" y="2240280"/>
            <a:ext cx="0" cy="36576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headEnd type="triangle"/>
          </a:ln>
        </p:spPr>
      </p:sp>
      <p:sp>
        <p:nvSpPr>
          <p:cNvPr id="18" name="Text 16"/>
          <p:cNvSpPr txBox="1"/>
          <p:nvPr/>
        </p:nvSpPr>
        <p:spPr>
          <a:xfrm>
            <a:off x="5166360" y="26517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 ROW</a:t>
            </a:r>
            <a:endParaRPr lang="en-US" sz="1300" dirty="0"/>
          </a:p>
        </p:txBody>
      </p:sp>
      <p:sp>
        <p:nvSpPr>
          <p:cNvPr id="19" name="Row 6"/>
          <p:cNvSpPr/>
          <p:nvPr/>
        </p:nvSpPr>
        <p:spPr>
          <a:xfrm>
            <a:off x="6766560" y="1463040"/>
            <a:ext cx="1005840" cy="731520"/>
          </a:xfrm>
          <a:prstGeom prst="roundRect">
            <a:avLst>
              <a:gd name="adj" fmla="val 7500"/>
            </a:avLst>
          </a:prstGeom>
          <a:solidFill>
            <a:srgbClr val="EAF0F6"/>
          </a:solidFill>
          <a:ln w="12700">
            <a:solidFill>
              <a:srgbClr val="C9D6D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66560" y="146304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Row 6</a:t>
            </a:r>
            <a:endParaRPr lang="en-US" sz="1400" dirty="0"/>
          </a:p>
        </p:txBody>
      </p:sp>
      <p:sp>
        <p:nvSpPr>
          <p:cNvPr id="21" name="Row 7"/>
          <p:cNvSpPr/>
          <p:nvPr/>
        </p:nvSpPr>
        <p:spPr>
          <a:xfrm>
            <a:off x="7955280" y="1463040"/>
            <a:ext cx="1005840" cy="731520"/>
          </a:xfrm>
          <a:prstGeom prst="roundRect">
            <a:avLst>
              <a:gd name="adj" fmla="val 7500"/>
            </a:avLst>
          </a:prstGeom>
          <a:solidFill>
            <a:srgbClr val="EAF0F6"/>
          </a:solidFill>
          <a:ln w="12700">
            <a:solidFill>
              <a:srgbClr val="C9D6D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955280" y="146304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Row 7</a:t>
            </a:r>
            <a:endParaRPr lang="en-US" sz="1400" dirty="0"/>
          </a:p>
        </p:txBody>
      </p:sp>
      <p:sp>
        <p:nvSpPr>
          <p:cNvPr id="23" name="Pointer"/>
          <p:cNvSpPr/>
          <p:nvPr/>
        </p:nvSpPr>
        <p:spPr>
          <a:xfrm>
            <a:off x="8458200" y="2240280"/>
            <a:ext cx="0" cy="36576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headEnd type="triangle"/>
          </a:ln>
        </p:spPr>
      </p:sp>
      <p:sp>
        <p:nvSpPr>
          <p:cNvPr id="24" name="Text 22"/>
          <p:cNvSpPr txBox="1"/>
          <p:nvPr/>
        </p:nvSpPr>
        <p:spPr>
          <a:xfrm>
            <a:off x="7543800" y="26517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FOLLOWING</a:t>
            </a:r>
            <a:endParaRPr lang="en-US" sz="1300" dirty="0"/>
          </a:p>
        </p:txBody>
      </p:sp>
      <p:sp>
        <p:nvSpPr>
          <p:cNvPr id="25" name="Row 8"/>
          <p:cNvSpPr/>
          <p:nvPr/>
        </p:nvSpPr>
        <p:spPr>
          <a:xfrm>
            <a:off x="9144000" y="1463040"/>
            <a:ext cx="1005840" cy="731520"/>
          </a:xfrm>
          <a:prstGeom prst="roundRect">
            <a:avLst>
              <a:gd name="adj" fmla="val 7500"/>
            </a:avLst>
          </a:prstGeom>
          <a:solidFill>
            <a:srgbClr val="EAF0F6"/>
          </a:solidFill>
          <a:ln w="12700">
            <a:solidFill>
              <a:srgbClr val="C9D6D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44000" y="146304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Row 8</a:t>
            </a:r>
            <a:endParaRPr lang="en-US" sz="1400" dirty="0"/>
          </a:p>
        </p:txBody>
      </p:sp>
      <p:sp>
        <p:nvSpPr>
          <p:cNvPr id="27" name="Row 9"/>
          <p:cNvSpPr/>
          <p:nvPr/>
        </p:nvSpPr>
        <p:spPr>
          <a:xfrm>
            <a:off x="10332720" y="1463040"/>
            <a:ext cx="1005840" cy="731520"/>
          </a:xfrm>
          <a:prstGeom prst="roundRect">
            <a:avLst>
              <a:gd name="adj" fmla="val 7500"/>
            </a:avLst>
          </a:prstGeom>
          <a:solidFill>
            <a:srgbClr val="EAF0F6"/>
          </a:solidFill>
          <a:ln w="12700">
            <a:solidFill>
              <a:srgbClr val="C9D6D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332720" y="146304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Row 9</a:t>
            </a:r>
            <a:endParaRPr lang="en-US" sz="1400" dirty="0"/>
          </a:p>
        </p:txBody>
      </p:sp>
      <p:sp>
        <p:nvSpPr>
          <p:cNvPr id="29" name="Pointer"/>
          <p:cNvSpPr/>
          <p:nvPr/>
        </p:nvSpPr>
        <p:spPr>
          <a:xfrm>
            <a:off x="10835640" y="2240280"/>
            <a:ext cx="0" cy="36576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headEnd type="triangle"/>
          </a:ln>
        </p:spPr>
      </p:sp>
      <p:sp>
        <p:nvSpPr>
          <p:cNvPr id="30" name="Text 28"/>
          <p:cNvSpPr txBox="1"/>
          <p:nvPr/>
        </p:nvSpPr>
        <p:spPr>
          <a:xfrm>
            <a:off x="9921240" y="26517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UNBOUNDED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FOLLOWING</a:t>
            </a:r>
            <a:endParaRPr lang="en-US" sz="1300" dirty="0"/>
          </a:p>
        </p:txBody>
      </p:sp>
      <p:sp>
        <p:nvSpPr>
          <p:cNvPr id="31" name="Card"/>
          <p:cNvSpPr/>
          <p:nvPr/>
        </p:nvSpPr>
        <p:spPr>
          <a:xfrm>
            <a:off x="548640" y="3474720"/>
            <a:ext cx="347472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77240" y="3611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PRECEDING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777240" y="4069080"/>
            <a:ext cx="3017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Rows before the current row. N PRECEDING = exactly N rows back; UNBOUNDED = from the first row of the partition.</a:t>
            </a:r>
            <a:endParaRPr lang="en-US" sz="1500" dirty="0"/>
          </a:p>
        </p:txBody>
      </p:sp>
      <p:sp>
        <p:nvSpPr>
          <p:cNvPr id="34" name="Card"/>
          <p:cNvSpPr/>
          <p:nvPr/>
        </p:nvSpPr>
        <p:spPr>
          <a:xfrm>
            <a:off x="4343400" y="3474720"/>
            <a:ext cx="3474720" cy="2194560"/>
          </a:xfrm>
          <a:prstGeom prst="roundRect">
            <a:avLst>
              <a:gd name="adj" fmla="val 4167"/>
            </a:avLst>
          </a:prstGeom>
          <a:solidFill>
            <a:srgbClr val="FCEBD0"/>
          </a:solidFill>
          <a:ln w="12700">
            <a:solidFill>
              <a:srgbClr val="FCEBD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572000" y="3611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 ROW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0" y="4069080"/>
            <a:ext cx="3017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The row being calculated right now. Every frame is measured relative to it.</a:t>
            </a:r>
            <a:endParaRPr lang="en-US" sz="1500" dirty="0"/>
          </a:p>
        </p:txBody>
      </p:sp>
      <p:sp>
        <p:nvSpPr>
          <p:cNvPr id="37" name="Card"/>
          <p:cNvSpPr/>
          <p:nvPr/>
        </p:nvSpPr>
        <p:spPr>
          <a:xfrm>
            <a:off x="8138160" y="3474720"/>
            <a:ext cx="347472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366760" y="3611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FOLLOWING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8366760" y="4069080"/>
            <a:ext cx="3017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Rows after the current row. N FOLLOWING = N rows ahead; UNBOUNDED = till the last row.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Rule: &lt;start&gt; must not come after &lt;end&gt;.  BETWEEN 1 FOLLOWING AND 1 PRECEDING  → error</a:t>
            </a:r>
            <a:endParaRPr lang="en-US" sz="140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Sample Table: sales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Every example on the next slides uses this one week of sales</a:t>
            </a:r>
            <a:endParaRPr lang="en-US" sz="1600" dirty="0"/>
          </a:p>
        </p:txBody>
      </p:sp>
      <p:graphicFrame>
        <p:nvGraphicFramePr>
          <p:cNvPr id="6" name="Resul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4572000" cy="3072384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day_no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day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amount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Mon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100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Tue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200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Wed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150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Thu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300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Fri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250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Sat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400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Sun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350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Key idea"/>
          <p:cNvSpPr/>
          <p:nvPr/>
        </p:nvSpPr>
        <p:spPr>
          <a:xfrm>
            <a:off x="548640" y="4892040"/>
            <a:ext cx="4572000" cy="1188720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Text 3"/>
          <p:cNvSpPr txBox="1"/>
          <p:nvPr/>
        </p:nvSpPr>
        <p:spPr>
          <a:xfrm>
            <a:off x="777240" y="498348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Remember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Total = 1,750. We always ORDER BY day_no (1 = Mon … 7 = Sun).</a:t>
            </a:r>
            <a:endParaRPr lang="en-US" sz="1300" dirty="0"/>
          </a:p>
        </p:txBody>
      </p:sp>
      <p:graphicFrame>
        <p:nvGraphicFramePr>
          <p:cNvPr id="7" name="Sales chart"/>
          <p:cNvGraphicFramePr/>
          <p:nvPr/>
        </p:nvGraphicFramePr>
        <p:xfrm>
          <a:off x="5669280" y="1463040"/>
          <a:ext cx="594360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1: Running Total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ROWS BETWEEN UNBOUNDED PRECEDING AND CURRENT ROW</a:t>
            </a:r>
            <a:endParaRPr lang="en-US" sz="1600" dirty="0"/>
          </a:p>
        </p:txBody>
      </p:sp>
      <p:sp>
        <p:nvSpPr>
          <p:cNvPr id="4" name="Code background"/>
          <p:cNvSpPr/>
          <p:nvPr/>
        </p:nvSpPr>
        <p:spPr>
          <a:xfrm>
            <a:off x="548640" y="1600200"/>
            <a:ext cx="5760720" cy="2331720"/>
          </a:xfrm>
          <a:prstGeom prst="roundRect">
            <a:avLst>
              <a:gd name="adj" fmla="val 313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Code"/>
          <p:cNvSpPr txBox="1"/>
          <p:nvPr/>
        </p:nvSpPr>
        <p:spPr>
          <a:xfrm>
            <a:off x="731520" y="1709928"/>
            <a:ext cx="5394960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day, amount,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SUM(amount) OVER 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ORDER BY day_no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ROWS BETWEEN UNBOUNDED PRECEDING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AND CURRENT ROW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) AS running_total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sales;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1480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How it works</a:t>
            </a:r>
            <a:endParaRPr lang="en-US" sz="1600" dirty="0"/>
          </a:p>
        </p:txBody>
      </p:sp>
      <p:sp>
        <p:nvSpPr>
          <p:cNvPr id="7" name="Points"/>
          <p:cNvSpPr txBox="1"/>
          <p:nvPr/>
        </p:nvSpPr>
        <p:spPr>
          <a:xfrm>
            <a:off x="548640" y="452628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Frame starts at the first row and ends at the current row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Every row adds its amount to the total of all rows before it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Use it for cumulative sales, YTD revenue, bank balance</a:t>
            </a:r>
            <a:endParaRPr lang="en-US" sz="1500" dirty="0"/>
          </a:p>
        </p:txBody>
      </p:sp>
      <p:graphicFrame>
        <p:nvGraphicFramePr>
          <p:cNvPr id="8" name="Resul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1600200"/>
          <a:ext cx="4846320" cy="263347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day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amount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running_total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Mon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100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Tue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300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Wed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150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450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Thu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300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750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Fri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250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1000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Sat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400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1400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Sun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350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1750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Legend frame"/>
          <p:cNvSpPr/>
          <p:nvPr/>
        </p:nvSpPr>
        <p:spPr>
          <a:xfrm>
            <a:off x="6766560" y="4389120"/>
            <a:ext cx="274320" cy="201168"/>
          </a:xfrm>
          <a:prstGeom prst="rect">
            <a:avLst/>
          </a:prstGeom>
          <a:solidFill>
            <a:schemeClr val="bg2"/>
          </a:solidFill>
          <a:ln w="12700">
            <a:solidFill>
              <a:srgbClr val="C9D6D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132320" y="432511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Rows inside the frame</a:t>
            </a:r>
            <a:endParaRPr lang="en-US" sz="1200" dirty="0"/>
          </a:p>
        </p:txBody>
      </p:sp>
      <p:sp>
        <p:nvSpPr>
          <p:cNvPr id="11" name="Legend current"/>
          <p:cNvSpPr/>
          <p:nvPr/>
        </p:nvSpPr>
        <p:spPr>
          <a:xfrm>
            <a:off x="9372600" y="4389120"/>
            <a:ext cx="274320" cy="20116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738360" y="432511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Current row</a:t>
            </a:r>
            <a:endParaRPr lang="en-US" sz="1200" dirty="0"/>
          </a:p>
        </p:txBody>
      </p:sp>
      <p:sp>
        <p:nvSpPr>
          <p:cNvPr id="13" name="Key idea"/>
          <p:cNvSpPr/>
          <p:nvPr/>
        </p:nvSpPr>
        <p:spPr>
          <a:xfrm>
            <a:off x="6766560" y="4782312"/>
            <a:ext cx="4846320" cy="1435608"/>
          </a:xfrm>
          <a:prstGeom prst="roundRect">
            <a:avLst>
              <a:gd name="adj" fmla="val 636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995160" y="4873752"/>
            <a:ext cx="438912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How Thu is calculated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100 + 200 + 150 + 300 = 750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2: 3-Day Moving Average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ROWS BETWEEN 2 PRECEDING AND CURRENT ROW</a:t>
            </a:r>
            <a:endParaRPr lang="en-US" sz="1600" dirty="0"/>
          </a:p>
        </p:txBody>
      </p:sp>
      <p:sp>
        <p:nvSpPr>
          <p:cNvPr id="4" name="Code background"/>
          <p:cNvSpPr/>
          <p:nvPr/>
        </p:nvSpPr>
        <p:spPr>
          <a:xfrm>
            <a:off x="548640" y="1600200"/>
            <a:ext cx="5760720" cy="2331720"/>
          </a:xfrm>
          <a:prstGeom prst="roundRect">
            <a:avLst>
              <a:gd name="adj" fmla="val 313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Code"/>
          <p:cNvSpPr txBox="1"/>
          <p:nvPr/>
        </p:nvSpPr>
        <p:spPr>
          <a:xfrm>
            <a:off x="731520" y="1709928"/>
            <a:ext cx="5394960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day, amount,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ROUND(AVG(amount) OVER 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ORDER BY day_no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ROWS BETWEEN 2 PRECEDING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AND CURRENT ROW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), 2) AS moving_avg_3d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sales;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1480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How it works</a:t>
            </a:r>
            <a:endParaRPr lang="en-US" sz="1600" dirty="0"/>
          </a:p>
        </p:txBody>
      </p:sp>
      <p:sp>
        <p:nvSpPr>
          <p:cNvPr id="7" name="Points"/>
          <p:cNvSpPr txBox="1"/>
          <p:nvPr/>
        </p:nvSpPr>
        <p:spPr>
          <a:xfrm>
            <a:off x="548640" y="452628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Frame = the 2 previous rows + the current row (3 rows)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frame slides down one row at a time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First rows have fewer rows: Mon averages 1 row, Tue averages 2</a:t>
            </a:r>
            <a:endParaRPr lang="en-US" sz="1500" dirty="0"/>
          </a:p>
        </p:txBody>
      </p:sp>
      <p:graphicFrame>
        <p:nvGraphicFramePr>
          <p:cNvPr id="8" name="Resul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1600200"/>
          <a:ext cx="4846320" cy="263347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day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amount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moving_avg_3d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Mon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100.00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Tue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150.00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Wed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150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150.00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Thu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300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216.67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Fri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250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233.33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Sat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400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316.67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Sun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350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333.33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Legend frame"/>
          <p:cNvSpPr/>
          <p:nvPr/>
        </p:nvSpPr>
        <p:spPr>
          <a:xfrm>
            <a:off x="6766560" y="4389120"/>
            <a:ext cx="274320" cy="201168"/>
          </a:xfrm>
          <a:prstGeom prst="rect">
            <a:avLst/>
          </a:prstGeom>
          <a:solidFill>
            <a:schemeClr val="bg2"/>
          </a:solidFill>
          <a:ln w="12700">
            <a:solidFill>
              <a:srgbClr val="C9D6D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132320" y="432511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Rows inside the frame</a:t>
            </a:r>
            <a:endParaRPr lang="en-US" sz="1200" dirty="0"/>
          </a:p>
        </p:txBody>
      </p:sp>
      <p:sp>
        <p:nvSpPr>
          <p:cNvPr id="11" name="Legend current"/>
          <p:cNvSpPr/>
          <p:nvPr/>
        </p:nvSpPr>
        <p:spPr>
          <a:xfrm>
            <a:off x="9372600" y="4389120"/>
            <a:ext cx="274320" cy="20116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738360" y="432511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Current row</a:t>
            </a:r>
            <a:endParaRPr lang="en-US" sz="1200" dirty="0"/>
          </a:p>
        </p:txBody>
      </p:sp>
      <p:sp>
        <p:nvSpPr>
          <p:cNvPr id="13" name="Key idea"/>
          <p:cNvSpPr/>
          <p:nvPr/>
        </p:nvSpPr>
        <p:spPr>
          <a:xfrm>
            <a:off x="6766560" y="4782312"/>
            <a:ext cx="4846320" cy="1435608"/>
          </a:xfrm>
          <a:prstGeom prst="roundRect">
            <a:avLst>
              <a:gd name="adj" fmla="val 636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995160" y="4873752"/>
            <a:ext cx="438912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How Fri is calculated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(150 + 300 + 250) / 3 = 233.33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3: Centered Window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ROWS BETWEEN 1 PRECEDING AND 1 FOLLOWING</a:t>
            </a:r>
            <a:endParaRPr lang="en-US" sz="1600" dirty="0"/>
          </a:p>
        </p:txBody>
      </p:sp>
      <p:sp>
        <p:nvSpPr>
          <p:cNvPr id="4" name="Code background"/>
          <p:cNvSpPr/>
          <p:nvPr/>
        </p:nvSpPr>
        <p:spPr>
          <a:xfrm>
            <a:off x="548640" y="1600200"/>
            <a:ext cx="5760720" cy="2331720"/>
          </a:xfrm>
          <a:prstGeom prst="roundRect">
            <a:avLst>
              <a:gd name="adj" fmla="val 313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Code"/>
          <p:cNvSpPr txBox="1"/>
          <p:nvPr/>
        </p:nvSpPr>
        <p:spPr>
          <a:xfrm>
            <a:off x="731520" y="1709928"/>
            <a:ext cx="5394960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day, amount,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SUM(amount) OVER 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ORDER BY day_no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ROWS BETWEEN 1 PRECEDING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AND 1 FOLLOWING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) AS neighbour_sum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sales;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1480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How it works</a:t>
            </a:r>
            <a:endParaRPr lang="en-US" sz="1600" dirty="0"/>
          </a:p>
        </p:txBody>
      </p:sp>
      <p:sp>
        <p:nvSpPr>
          <p:cNvPr id="7" name="Points"/>
          <p:cNvSpPr txBox="1"/>
          <p:nvPr/>
        </p:nvSpPr>
        <p:spPr>
          <a:xfrm>
            <a:off x="548640" y="452628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Looks one row back and one row ahead of the current row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Mon has no previous row and Sun has no next row — only 2 rows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Use it to smooth data or compare a day with its neighbours</a:t>
            </a:r>
            <a:endParaRPr lang="en-US" sz="1500" dirty="0"/>
          </a:p>
        </p:txBody>
      </p:sp>
      <p:graphicFrame>
        <p:nvGraphicFramePr>
          <p:cNvPr id="9" name="Resul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1600200"/>
          <a:ext cx="4846320" cy="263347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day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amount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neighbour_sum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Mon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300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Tue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450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Wed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150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650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Thu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300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700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Fri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250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950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Sat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400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1000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Sun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350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750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Legend frame"/>
          <p:cNvSpPr/>
          <p:nvPr/>
        </p:nvSpPr>
        <p:spPr>
          <a:xfrm>
            <a:off x="6766560" y="4389120"/>
            <a:ext cx="274320" cy="201168"/>
          </a:xfrm>
          <a:prstGeom prst="rect">
            <a:avLst/>
          </a:prstGeom>
          <a:solidFill>
            <a:schemeClr val="bg2"/>
          </a:solidFill>
          <a:ln w="12700">
            <a:solidFill>
              <a:srgbClr val="C9D6D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132320" y="432511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Rows inside the frame</a:t>
            </a:r>
            <a:endParaRPr lang="en-US" sz="1200" dirty="0"/>
          </a:p>
        </p:txBody>
      </p:sp>
      <p:sp>
        <p:nvSpPr>
          <p:cNvPr id="11" name="Legend current"/>
          <p:cNvSpPr/>
          <p:nvPr/>
        </p:nvSpPr>
        <p:spPr>
          <a:xfrm>
            <a:off x="9372600" y="4389120"/>
            <a:ext cx="274320" cy="20116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738360" y="432511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Current row</a:t>
            </a:r>
            <a:endParaRPr lang="en-US" sz="1200" dirty="0"/>
          </a:p>
        </p:txBody>
      </p:sp>
      <p:sp>
        <p:nvSpPr>
          <p:cNvPr id="13" name="Key idea"/>
          <p:cNvSpPr/>
          <p:nvPr/>
        </p:nvSpPr>
        <p:spPr>
          <a:xfrm>
            <a:off x="6766560" y="4782312"/>
            <a:ext cx="4846320" cy="1435608"/>
          </a:xfrm>
          <a:prstGeom prst="roundRect">
            <a:avLst>
              <a:gd name="adj" fmla="val 636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995160" y="4873752"/>
            <a:ext cx="438912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How Thu is calculated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150 + 300 + 250 = 700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4: Whole Partition (% of Total)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ROWS BETWEEN UNBOUNDED PRECEDING AND UNBOUNDED FOLLOWING</a:t>
            </a:r>
            <a:endParaRPr lang="en-US" sz="1600" dirty="0"/>
          </a:p>
        </p:txBody>
      </p:sp>
      <p:sp>
        <p:nvSpPr>
          <p:cNvPr id="4" name="Code background"/>
          <p:cNvSpPr/>
          <p:nvPr/>
        </p:nvSpPr>
        <p:spPr>
          <a:xfrm>
            <a:off x="548640" y="1600200"/>
            <a:ext cx="5760720" cy="2331720"/>
          </a:xfrm>
          <a:prstGeom prst="roundRect">
            <a:avLst>
              <a:gd name="adj" fmla="val 313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Code"/>
          <p:cNvSpPr txBox="1"/>
          <p:nvPr/>
        </p:nvSpPr>
        <p:spPr>
          <a:xfrm>
            <a:off x="731520" y="1709928"/>
            <a:ext cx="5394960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day, amount,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ROUND(100.0 * amount / SUM(amount) OVER 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ORDER BY </a:t>
            </a:r>
            <a:r>
              <a:rPr lang="en-US" sz="140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</a:t>
            </a: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_no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ROWS BETWEEN UNBOUNDED PRECEDING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AND UNBOUNDED FOLLOWING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), 2) AS pct_of_total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sales;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1480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How it works</a:t>
            </a:r>
            <a:endParaRPr lang="en-US" sz="1600" dirty="0"/>
          </a:p>
        </p:txBody>
      </p:sp>
      <p:sp>
        <p:nvSpPr>
          <p:cNvPr id="7" name="Points"/>
          <p:cNvSpPr txBox="1"/>
          <p:nvPr/>
        </p:nvSpPr>
        <p:spPr>
          <a:xfrm>
            <a:off x="548640" y="452628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Every row sees all 7 rows, so SUM = 1,750 on every row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Divide each amount by that grand total to get its share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Without ORDER BY you get the whole partition by default</a:t>
            </a:r>
            <a:endParaRPr lang="en-US" sz="1500" dirty="0"/>
          </a:p>
        </p:txBody>
      </p:sp>
      <p:graphicFrame>
        <p:nvGraphicFramePr>
          <p:cNvPr id="10" name="Resul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1600200"/>
          <a:ext cx="4846320" cy="263347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day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amount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pct_of_total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Mon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5.71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Tue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11.43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Wed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150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8.57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Thu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300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17.14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Fri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250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14.29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Sat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400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22.86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Sun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350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20.00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Legend frame"/>
          <p:cNvSpPr/>
          <p:nvPr/>
        </p:nvSpPr>
        <p:spPr>
          <a:xfrm>
            <a:off x="6766560" y="4389120"/>
            <a:ext cx="274320" cy="201168"/>
          </a:xfrm>
          <a:prstGeom prst="rect">
            <a:avLst/>
          </a:prstGeom>
          <a:solidFill>
            <a:schemeClr val="bg2"/>
          </a:solidFill>
          <a:ln w="12700">
            <a:solidFill>
              <a:srgbClr val="C9D6D4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7132320" y="432511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Rows inside the frame</a:t>
            </a:r>
            <a:endParaRPr lang="en-US" sz="1200" dirty="0"/>
          </a:p>
        </p:txBody>
      </p:sp>
      <p:sp>
        <p:nvSpPr>
          <p:cNvPr id="11" name="Legend current"/>
          <p:cNvSpPr/>
          <p:nvPr/>
        </p:nvSpPr>
        <p:spPr>
          <a:xfrm>
            <a:off x="9372600" y="4389120"/>
            <a:ext cx="274320" cy="20116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738360" y="432511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Current row</a:t>
            </a:r>
            <a:endParaRPr lang="en-US" sz="1200" dirty="0"/>
          </a:p>
        </p:txBody>
      </p:sp>
      <p:sp>
        <p:nvSpPr>
          <p:cNvPr id="13" name="Key idea"/>
          <p:cNvSpPr/>
          <p:nvPr/>
        </p:nvSpPr>
        <p:spPr>
          <a:xfrm>
            <a:off x="6766560" y="4782312"/>
            <a:ext cx="4846320" cy="1435608"/>
          </a:xfrm>
          <a:prstGeom prst="roundRect">
            <a:avLst>
              <a:gd name="adj" fmla="val 636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995160" y="4873752"/>
            <a:ext cx="438912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How Wed is calculated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100 × 150 / 1750 = 8.57 %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5: Remaining Total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ROWS BETWEEN CURRENT ROW AND UNBOUNDED FOLLOWING</a:t>
            </a:r>
            <a:endParaRPr lang="en-US" sz="1600" dirty="0"/>
          </a:p>
        </p:txBody>
      </p:sp>
      <p:sp>
        <p:nvSpPr>
          <p:cNvPr id="4" name="Code background"/>
          <p:cNvSpPr/>
          <p:nvPr/>
        </p:nvSpPr>
        <p:spPr>
          <a:xfrm>
            <a:off x="548640" y="1600200"/>
            <a:ext cx="5760720" cy="2331720"/>
          </a:xfrm>
          <a:prstGeom prst="roundRect">
            <a:avLst>
              <a:gd name="adj" fmla="val 313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Code"/>
          <p:cNvSpPr txBox="1"/>
          <p:nvPr/>
        </p:nvSpPr>
        <p:spPr>
          <a:xfrm>
            <a:off x="731520" y="1709928"/>
            <a:ext cx="5394960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day, amount,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SUM(amount) OVER 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ORDER BY day_no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ROWS BETWEEN CURRENT ROW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AND UNBOUNDED FOLLOWING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) AS remaining_total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sales;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1480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How it works</a:t>
            </a:r>
            <a:endParaRPr lang="en-US" sz="1600" dirty="0"/>
          </a:p>
        </p:txBody>
      </p:sp>
      <p:sp>
        <p:nvSpPr>
          <p:cNvPr id="7" name="Points"/>
          <p:cNvSpPr txBox="1"/>
          <p:nvPr/>
        </p:nvSpPr>
        <p:spPr>
          <a:xfrm>
            <a:off x="548640" y="452628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Frame starts at the current row and runs to the last row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It is a running total in reverse: biggest at the top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Use it for pending stock, remaining budget, days left</a:t>
            </a:r>
            <a:endParaRPr lang="en-US" sz="1500" dirty="0"/>
          </a:p>
        </p:txBody>
      </p:sp>
      <p:graphicFrame>
        <p:nvGraphicFramePr>
          <p:cNvPr id="11" name="Resul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1600200"/>
          <a:ext cx="4846320" cy="9144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day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amount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remaining_total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Mon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1750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Tue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1650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Wed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150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1450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Thu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300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1300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Fri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250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1000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Sat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400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750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Sun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350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350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Legend frame"/>
          <p:cNvSpPr/>
          <p:nvPr/>
        </p:nvSpPr>
        <p:spPr>
          <a:xfrm>
            <a:off x="6766560" y="4389120"/>
            <a:ext cx="274320" cy="201168"/>
          </a:xfrm>
          <a:prstGeom prst="rect">
            <a:avLst/>
          </a:prstGeom>
          <a:solidFill>
            <a:schemeClr val="bg2"/>
          </a:solidFill>
          <a:ln w="12700">
            <a:solidFill>
              <a:srgbClr val="C9D6D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132320" y="432511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Rows inside the frame</a:t>
            </a:r>
            <a:endParaRPr lang="en-US" sz="1200" dirty="0"/>
          </a:p>
        </p:txBody>
      </p:sp>
      <p:sp>
        <p:nvSpPr>
          <p:cNvPr id="8" name="Legend current"/>
          <p:cNvSpPr/>
          <p:nvPr/>
        </p:nvSpPr>
        <p:spPr>
          <a:xfrm>
            <a:off x="9372600" y="4389120"/>
            <a:ext cx="274320" cy="20116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738360" y="432511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Current row</a:t>
            </a:r>
            <a:endParaRPr lang="en-US" sz="1200" dirty="0"/>
          </a:p>
        </p:txBody>
      </p:sp>
      <p:sp>
        <p:nvSpPr>
          <p:cNvPr id="13" name="Key idea"/>
          <p:cNvSpPr/>
          <p:nvPr/>
        </p:nvSpPr>
        <p:spPr>
          <a:xfrm>
            <a:off x="6766560" y="4782312"/>
            <a:ext cx="4846320" cy="1435608"/>
          </a:xfrm>
          <a:prstGeom prst="roundRect">
            <a:avLst>
              <a:gd name="adj" fmla="val 636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995160" y="4873752"/>
            <a:ext cx="438912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How Fri is calculated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250 + 400 + 350 = 1000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6: The LAST_VALUE Trap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The default frame stops at the current row — so the "last" value is just the current row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✗  Default frame (wrong)</a:t>
            </a:r>
            <a:endParaRPr lang="en-US" sz="1500" dirty="0"/>
          </a:p>
        </p:txBody>
      </p:sp>
      <p:sp>
        <p:nvSpPr>
          <p:cNvPr id="5" name="Code background"/>
          <p:cNvSpPr/>
          <p:nvPr/>
        </p:nvSpPr>
        <p:spPr>
          <a:xfrm>
            <a:off x="548640" y="1920240"/>
            <a:ext cx="5760720" cy="1234440"/>
          </a:xfrm>
          <a:prstGeom prst="roundRect">
            <a:avLst>
              <a:gd name="adj" fmla="val 592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Code"/>
          <p:cNvSpPr txBox="1"/>
          <p:nvPr/>
        </p:nvSpPr>
        <p:spPr>
          <a:xfrm>
            <a:off x="731520" y="2029968"/>
            <a:ext cx="539496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LAST_VALUE(amount) OVER (ORDER BY day_no)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hidden frame: RANGE BETWEEN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  UNBOUNDED PRECEDING AND CURRENT ROW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38328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✓  Explicit frame (correct)</a:t>
            </a:r>
            <a:endParaRPr lang="en-US" sz="1500" dirty="0"/>
          </a:p>
        </p:txBody>
      </p:sp>
      <p:sp>
        <p:nvSpPr>
          <p:cNvPr id="8" name="Code background"/>
          <p:cNvSpPr/>
          <p:nvPr/>
        </p:nvSpPr>
        <p:spPr>
          <a:xfrm>
            <a:off x="548640" y="3749040"/>
            <a:ext cx="5760720" cy="1645920"/>
          </a:xfrm>
          <a:prstGeom prst="roundRect">
            <a:avLst>
              <a:gd name="adj" fmla="val 444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" name="Code"/>
          <p:cNvSpPr txBox="1"/>
          <p:nvPr/>
        </p:nvSpPr>
        <p:spPr>
          <a:xfrm>
            <a:off x="731520" y="3858768"/>
            <a:ext cx="539496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LAST_VALUE(amount) OVER 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 BY day_no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ROWS BETWEEN UNBOUNDED PRECEDING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AND UNBOUNDED FOLLOWING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53212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FIRST_VALUE works with the default frame, LAST_VALUE and NTH_VALUE need the full frame.</a:t>
            </a:r>
            <a:endParaRPr lang="en-US" sz="1400" dirty="0"/>
          </a:p>
        </p:txBody>
      </p:sp>
      <p:graphicFrame>
        <p:nvGraphicFramePr>
          <p:cNvPr id="12" name="LAST_VALU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1600200"/>
          <a:ext cx="4846320" cy="9144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day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amount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default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fixed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7202E"/>
                          </a:solidFill>
                        </a:rPr>
                        <a:t>Mon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7202E"/>
                          </a:solidFill>
                        </a:rPr>
                        <a:t>100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100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350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7202E"/>
                          </a:solidFill>
                        </a:rPr>
                        <a:t>Tue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7202E"/>
                          </a:solidFill>
                        </a:rPr>
                        <a:t>200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200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350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7202E"/>
                          </a:solidFill>
                        </a:rPr>
                        <a:t>Wed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7202E"/>
                          </a:solidFill>
                        </a:rPr>
                        <a:t>150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150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350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7202E"/>
                          </a:solidFill>
                        </a:rPr>
                        <a:t>Thu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7202E"/>
                          </a:solidFill>
                        </a:rPr>
                        <a:t>300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300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350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7202E"/>
                          </a:solidFill>
                        </a:rPr>
                        <a:t>Fri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7202E"/>
                          </a:solidFill>
                        </a:rPr>
                        <a:t>250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250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350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7202E"/>
                          </a:solidFill>
                        </a:rPr>
                        <a:t>Sat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7202E"/>
                          </a:solidFill>
                        </a:rPr>
                        <a:t>400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400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350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7202E"/>
                          </a:solidFill>
                        </a:rPr>
                        <a:t>Sun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7202E"/>
                          </a:solidFill>
                        </a:rPr>
                        <a:t>350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350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350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Key idea"/>
          <p:cNvSpPr/>
          <p:nvPr/>
        </p:nvSpPr>
        <p:spPr>
          <a:xfrm>
            <a:off x="6766560" y="4526280"/>
            <a:ext cx="4846320" cy="1691640"/>
          </a:xfrm>
          <a:prstGeom prst="roundRect">
            <a:avLst>
              <a:gd name="adj" fmla="val 540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6995160" y="4617720"/>
            <a:ext cx="43891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Why?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With ORDER BY and no frame, the frame ends at CURRENT ROW. Extend it to UNBOUNDED FOLLOWING to see Sun = 350.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ROWS vs RANGE — Ties Matter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Same bounds, different unit: two orders share the date Jan-02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548640" y="1600200"/>
            <a:ext cx="576072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099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57400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Counts physical rows one by one. Each Jan-02 row gets its own running total.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548640" y="2971800"/>
            <a:ext cx="576072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0815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429000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Treats rows with the same ORDER BY value (peers) as one block. Both Jan-02 rows get 600.</a:t>
            </a:r>
            <a:endParaRPr lang="en-US" sz="1500" dirty="0"/>
          </a:p>
        </p:txBody>
      </p:sp>
      <p:sp>
        <p:nvSpPr>
          <p:cNvPr id="10" name="Code background"/>
          <p:cNvSpPr/>
          <p:nvPr/>
        </p:nvSpPr>
        <p:spPr>
          <a:xfrm>
            <a:off x="548640" y="4434840"/>
            <a:ext cx="5760720" cy="1783080"/>
          </a:xfrm>
          <a:prstGeom prst="roundRect">
            <a:avLst>
              <a:gd name="adj" fmla="val 410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Code"/>
          <p:cNvSpPr txBox="1"/>
          <p:nvPr/>
        </p:nvSpPr>
        <p:spPr>
          <a:xfrm>
            <a:off x="731520" y="4544568"/>
            <a:ext cx="539496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SUM(amount) OVER (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 BY order_date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ROWS BETWEEN UNBOUNDED PRECEDING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AND CURRENT ROW)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swap ROWS for RANGE to compare</a:t>
            </a:r>
            <a:endParaRPr lang="en-US" sz="1300" dirty="0"/>
          </a:p>
        </p:txBody>
      </p:sp>
      <p:graphicFrame>
        <p:nvGraphicFramePr>
          <p:cNvPr id="13" name="ROWS vs RANG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1600200"/>
          <a:ext cx="4846320" cy="9144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order_date</a:t>
                      </a:r>
                      <a:endParaRPr lang="en-US" sz="1500" dirty="0"/>
                    </a:p>
                  </a:txBody>
                  <a:tcPr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amount</a:t>
                      </a:r>
                      <a:endParaRPr lang="en-US" sz="1500" dirty="0"/>
                    </a:p>
                  </a:txBody>
                  <a:tcPr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ROWS</a:t>
                      </a:r>
                      <a:endParaRPr lang="en-US" sz="1500" dirty="0"/>
                    </a:p>
                  </a:txBody>
                  <a:tcPr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RANGE</a:t>
                      </a:r>
                      <a:endParaRPr lang="en-US" sz="1500" dirty="0"/>
                    </a:p>
                  </a:txBody>
                  <a:tcPr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Jan-01</a:t>
                      </a:r>
                      <a:endParaRPr lang="en-US" sz="1500" dirty="0"/>
                    </a:p>
                  </a:txBody>
                  <a:tcPr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en-US" sz="1500" dirty="0"/>
                    </a:p>
                  </a:txBody>
                  <a:tcPr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100</a:t>
                      </a:r>
                      <a:endParaRPr lang="en-US" sz="1500" dirty="0"/>
                    </a:p>
                  </a:txBody>
                  <a:tcPr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accent3"/>
                          </a:solidFill>
                        </a:rPr>
                        <a:t>100</a:t>
                      </a:r>
                      <a:endParaRPr lang="en-US" sz="1500" dirty="0"/>
                    </a:p>
                  </a:txBody>
                  <a:tcPr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Jan-02</a:t>
                      </a:r>
                      <a:endParaRPr lang="en-US" sz="1500" dirty="0"/>
                    </a:p>
                  </a:txBody>
                  <a:tcPr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en-US" sz="1500" dirty="0"/>
                    </a:p>
                  </a:txBody>
                  <a:tcPr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300</a:t>
                      </a:r>
                      <a:endParaRPr lang="en-US" sz="1500" dirty="0"/>
                    </a:p>
                  </a:txBody>
                  <a:tcPr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accent3"/>
                          </a:solidFill>
                        </a:rPr>
                        <a:t>600</a:t>
                      </a:r>
                      <a:endParaRPr lang="en-US" sz="1500" dirty="0"/>
                    </a:p>
                  </a:txBody>
                  <a:tcPr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Jan-02</a:t>
                      </a:r>
                      <a:endParaRPr lang="en-US" sz="1500" dirty="0"/>
                    </a:p>
                  </a:txBody>
                  <a:tcPr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300</a:t>
                      </a:r>
                      <a:endParaRPr lang="en-US" sz="1500" dirty="0"/>
                    </a:p>
                  </a:txBody>
                  <a:tcPr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600</a:t>
                      </a:r>
                      <a:endParaRPr lang="en-US" sz="1500" dirty="0"/>
                    </a:p>
                  </a:txBody>
                  <a:tcPr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accent3"/>
                          </a:solidFill>
                        </a:rPr>
                        <a:t>600</a:t>
                      </a:r>
                      <a:endParaRPr lang="en-US" sz="1500" dirty="0"/>
                    </a:p>
                  </a:txBody>
                  <a:tcPr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Jan-03</a:t>
                      </a:r>
                      <a:endParaRPr lang="en-US" sz="1500" dirty="0"/>
                    </a:p>
                  </a:txBody>
                  <a:tcPr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400</a:t>
                      </a:r>
                      <a:endParaRPr lang="en-US" sz="1500" dirty="0"/>
                    </a:p>
                  </a:txBody>
                  <a:tcPr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1000</a:t>
                      </a:r>
                      <a:endParaRPr lang="en-US" sz="1500" dirty="0"/>
                    </a:p>
                  </a:txBody>
                  <a:tcPr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accent3"/>
                          </a:solidFill>
                        </a:rPr>
                        <a:t>1000</a:t>
                      </a:r>
                      <a:endParaRPr lang="en-US" sz="1500" dirty="0"/>
                    </a:p>
                  </a:txBody>
                  <a:tcPr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 10"/>
          <p:cNvSpPr txBox="1"/>
          <p:nvPr/>
        </p:nvSpPr>
        <p:spPr>
          <a:xfrm>
            <a:off x="6766560" y="37490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Highlighted = tied rows (peers)</a:t>
            </a:r>
            <a:endParaRPr lang="en-US" sz="1200" dirty="0"/>
          </a:p>
        </p:txBody>
      </p:sp>
      <p:sp>
        <p:nvSpPr>
          <p:cNvPr id="14" name="Key idea"/>
          <p:cNvSpPr/>
          <p:nvPr/>
        </p:nvSpPr>
        <p:spPr>
          <a:xfrm>
            <a:off x="6766560" y="4434840"/>
            <a:ext cx="4846320" cy="1783080"/>
          </a:xfrm>
          <a:prstGeom prst="roundRect">
            <a:avLst>
              <a:gd name="adj" fmla="val 512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6995160" y="4526280"/>
            <a:ext cx="4389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Tip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For running totals with duplicate dates, use ROWS and add a unique tie-breaker: ORDER BY order_date, order_id.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7: Frame Inside Each Partition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PARTITION BY region — the running total restarts for every region</a:t>
            </a:r>
            <a:endParaRPr lang="en-US" sz="1600" dirty="0"/>
          </a:p>
        </p:txBody>
      </p:sp>
      <p:sp>
        <p:nvSpPr>
          <p:cNvPr id="4" name="Code background"/>
          <p:cNvSpPr/>
          <p:nvPr/>
        </p:nvSpPr>
        <p:spPr>
          <a:xfrm>
            <a:off x="548640" y="1600200"/>
            <a:ext cx="5760720" cy="2606040"/>
          </a:xfrm>
          <a:prstGeom prst="roundRect">
            <a:avLst>
              <a:gd name="adj" fmla="val 280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Code"/>
          <p:cNvSpPr txBox="1"/>
          <p:nvPr/>
        </p:nvSpPr>
        <p:spPr>
          <a:xfrm>
            <a:off x="731520" y="1709928"/>
            <a:ext cx="5394960" cy="2386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region, day, amount,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SUM(amount) OVER 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PARTITION BY region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ORDER BY day_no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ROWS BETWEEN UNBOUNDED PRECEDING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AND CURRENT ROW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) AS running_total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region_sales;</a:t>
            </a:r>
            <a:endParaRPr lang="en-US" sz="1400" dirty="0"/>
          </a:p>
        </p:txBody>
      </p:sp>
      <p:sp>
        <p:nvSpPr>
          <p:cNvPr id="6" name="Points"/>
          <p:cNvSpPr txBox="1"/>
          <p:nvPr/>
        </p:nvSpPr>
        <p:spPr>
          <a:xfrm>
            <a:off x="548640" y="443484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frame can never cross a partition boundary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UNBOUNDED PRECEDING = first row of that region, not of the table</a:t>
            </a:r>
            <a:endParaRPr lang="en-US" sz="1500" dirty="0"/>
          </a:p>
        </p:txBody>
      </p:sp>
      <p:graphicFrame>
        <p:nvGraphicFramePr>
          <p:cNvPr id="14" name="Resul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1600200"/>
          <a:ext cx="4846320" cy="9144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region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day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amount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running_total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North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Mon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100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North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Tue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300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North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Wed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150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450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South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Mon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300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300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South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Tue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250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550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South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Wed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400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950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Key idea"/>
          <p:cNvSpPr/>
          <p:nvPr/>
        </p:nvSpPr>
        <p:spPr>
          <a:xfrm>
            <a:off x="6766560" y="4572000"/>
            <a:ext cx="4846320" cy="1645920"/>
          </a:xfrm>
          <a:prstGeom prst="roundRect">
            <a:avLst>
              <a:gd name="adj" fmla="val 555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995160" y="466344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Notice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South starts again at 300 — it does not continue from North's 450.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Default Frame Rules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If you don't write a frame, SQL picks one for you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548640" y="1600200"/>
            <a:ext cx="3474720" cy="2926080"/>
          </a:xfrm>
          <a:prstGeom prst="roundRect">
            <a:avLst>
              <a:gd name="adj" fmla="val 312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umber 1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830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ORDER BY, no frame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4688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 BETWEEN UNBOUNDED PRECEDING AND CURRENT ROW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29184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You get a running total by default — with ties grouped together.</a:t>
            </a:r>
            <a:endParaRPr lang="en-US" sz="1500" dirty="0"/>
          </a:p>
        </p:txBody>
      </p:sp>
      <p:sp>
        <p:nvSpPr>
          <p:cNvPr id="10" name="Card"/>
          <p:cNvSpPr/>
          <p:nvPr/>
        </p:nvSpPr>
        <p:spPr>
          <a:xfrm>
            <a:off x="4343400" y="1600200"/>
            <a:ext cx="3474720" cy="2926080"/>
          </a:xfrm>
          <a:prstGeom prst="roundRect">
            <a:avLst>
              <a:gd name="adj" fmla="val 312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Number 2"/>
          <p:cNvSpPr/>
          <p:nvPr/>
        </p:nvSpPr>
        <p:spPr>
          <a:xfrm>
            <a:off x="4572000" y="17830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212080" y="17830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No ORDER BY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24688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Whole partition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329184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Every row sees every row of its partition — the grand total.</a:t>
            </a:r>
            <a:endParaRPr lang="en-US" sz="1500" dirty="0"/>
          </a:p>
        </p:txBody>
      </p:sp>
      <p:sp>
        <p:nvSpPr>
          <p:cNvPr id="16" name="Card"/>
          <p:cNvSpPr/>
          <p:nvPr/>
        </p:nvSpPr>
        <p:spPr>
          <a:xfrm>
            <a:off x="8138160" y="1600200"/>
            <a:ext cx="3474720" cy="2926080"/>
          </a:xfrm>
          <a:prstGeom prst="roundRect">
            <a:avLst>
              <a:gd name="adj" fmla="val 312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Number 3"/>
          <p:cNvSpPr/>
          <p:nvPr/>
        </p:nvSpPr>
        <p:spPr>
          <a:xfrm>
            <a:off x="8366760" y="17830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6676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9006840" y="17830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Frame is ignored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8366760" y="24688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ROW_NUMBER, RANK, DENSE_RANK, NTILE, LAG, LEAD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366760" y="329184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Ranking and offset functions always work on the whole partition.</a:t>
            </a:r>
            <a:endParaRPr lang="en-US" sz="1500" dirty="0"/>
          </a:p>
        </p:txBody>
      </p:sp>
      <p:sp>
        <p:nvSpPr>
          <p:cNvPr id="22" name="Key idea"/>
          <p:cNvSpPr/>
          <p:nvPr/>
        </p:nvSpPr>
        <p:spPr>
          <a:xfrm>
            <a:off x="548640" y="4846320"/>
            <a:ext cx="11064240" cy="1188720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Best practice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Always write the frame explicitly for SUM, AVG, COUNT, FIRST_VALUE and LAST_VALUE.  Shorthand: ROWS UNBOUNDED PRECEDING = ROWS BETWEEN UNBOUNDED PRECEDING AND CURRENT ROW.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Advanced: RANGE with Interval &amp; GROUPS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Last 7 calendar days (by date value)</a:t>
            </a:r>
            <a:endParaRPr lang="en-US" sz="1500" dirty="0"/>
          </a:p>
        </p:txBody>
      </p:sp>
      <p:sp>
        <p:nvSpPr>
          <p:cNvPr id="4" name="Code background"/>
          <p:cNvSpPr/>
          <p:nvPr/>
        </p:nvSpPr>
        <p:spPr>
          <a:xfrm>
            <a:off x="548640" y="1554480"/>
            <a:ext cx="5760720" cy="1371600"/>
          </a:xfrm>
          <a:prstGeom prst="roundRect">
            <a:avLst>
              <a:gd name="adj" fmla="val 5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Code"/>
          <p:cNvSpPr txBox="1"/>
          <p:nvPr/>
        </p:nvSpPr>
        <p:spPr>
          <a:xfrm>
            <a:off x="731520" y="1664208"/>
            <a:ext cx="539496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SUM(amount) OVER (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 BY order_date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RANGE BETWEEN INTERVAL '6 days' PRECEDING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AND CURRENT ROW)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0896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Current + previous group of equal dates</a:t>
            </a:r>
            <a:endParaRPr lang="en-US" sz="1500" dirty="0"/>
          </a:p>
        </p:txBody>
      </p:sp>
      <p:sp>
        <p:nvSpPr>
          <p:cNvPr id="7" name="Code background"/>
          <p:cNvSpPr/>
          <p:nvPr/>
        </p:nvSpPr>
        <p:spPr>
          <a:xfrm>
            <a:off x="548640" y="3474720"/>
            <a:ext cx="5760720" cy="1143000"/>
          </a:xfrm>
          <a:prstGeom prst="roundRect">
            <a:avLst>
              <a:gd name="adj" fmla="val 64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Code"/>
          <p:cNvSpPr txBox="1"/>
          <p:nvPr/>
        </p:nvSpPr>
        <p:spPr>
          <a:xfrm>
            <a:off x="731520" y="3584448"/>
            <a:ext cx="539496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SUM(amount) OVER (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 BY order_date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GROUPS BETWEEN 1 PRECEDING AND CURRENT ROW)</a:t>
            </a:r>
            <a:endParaRPr lang="en-US" sz="1300" dirty="0"/>
          </a:p>
        </p:txBody>
      </p:sp>
      <p:sp>
        <p:nvSpPr>
          <p:cNvPr id="9" name="Points"/>
          <p:cNvSpPr txBox="1"/>
          <p:nvPr/>
        </p:nvSpPr>
        <p:spPr>
          <a:xfrm>
            <a:off x="548640" y="484632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RANGE + interval counts by value, so missing dates are handled correctly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GROUPS counts distinct peer groups, not individual rows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766560" y="11887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Database support</a:t>
            </a:r>
            <a:endParaRPr lang="en-US" sz="1500" dirty="0"/>
          </a:p>
        </p:txBody>
      </p:sp>
      <p:graphicFrame>
        <p:nvGraphicFramePr>
          <p:cNvPr id="16" name="Suppor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1554480"/>
          <a:ext cx="4846320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Database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ROWS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RANGE N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GROUPS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PostgreSQL 11+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MySQL 8+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✗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SQL Server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✗ *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✗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Oracle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21c+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SQLite 3.28+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6766560" y="41148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* SQL Server RANGE allows only UNBOUNDED and CURRENT ROW, not N or an interval.</a:t>
            </a:r>
            <a:endParaRPr lang="en-US" sz="1200" dirty="0"/>
          </a:p>
        </p:txBody>
      </p:sp>
      <p:sp>
        <p:nvSpPr>
          <p:cNvPr id="13" name="Key idea"/>
          <p:cNvSpPr/>
          <p:nvPr/>
        </p:nvSpPr>
        <p:spPr>
          <a:xfrm>
            <a:off x="6766560" y="4846320"/>
            <a:ext cx="4846320" cy="137160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995160" y="493776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Interval syntax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PostgreSQL: INTERVAL '6 days'   MySQL: INTERVAL 6 DAY   Oracle: INTERVAL '6' DAY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Cheat Sheet: Pick the Right Frame</a:t>
            </a:r>
            <a:endParaRPr lang="en-US" sz="3200" dirty="0"/>
          </a:p>
        </p:txBody>
      </p:sp>
      <p:graphicFrame>
        <p:nvGraphicFramePr>
          <p:cNvPr id="17" name="Cheat shee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Goal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Frame clause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Running total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ROWS BETWEEN UNBOUNDED PRECEDING AND CURRENT ROW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3-row moving average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ROWS BETWEEN 2 PRECEDING AND CURRENT ROW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Centered (neighbour) window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ROWS BETWEEN 1 PRECEDING AND 1 FOLLOWING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% of total / grand total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ROWS BETWEEN UNBOUNDED PRECEDING AND UNBOUNDED FOLLOWING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Remaining total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ROWS BETWEEN CURRENT ROW AND UNBOUNDED FOLLOWING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Correct LAST_VALUE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ROWS BETWEEN UNBOUNDED PRECEDING AND UNBOUNDED FOLLOWING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Last 7 days by date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RANGE BETWEEN INTERVAL '6 days' PRECEDING AND CURRENT ROW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Number 1"/>
          <p:cNvSpPr/>
          <p:nvPr/>
        </p:nvSpPr>
        <p:spPr>
          <a:xfrm>
            <a:off x="548640" y="14630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32588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A frame is the moving set of rows the window function uses for the current row.</a:t>
            </a:r>
            <a:endParaRPr lang="en-US" sz="1700" dirty="0"/>
          </a:p>
        </p:txBody>
      </p:sp>
      <p:sp>
        <p:nvSpPr>
          <p:cNvPr id="6" name="Number 2"/>
          <p:cNvSpPr/>
          <p:nvPr/>
        </p:nvSpPr>
        <p:spPr>
          <a:xfrm>
            <a:off x="548640" y="26060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46888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Write it as ROWS | RANGE | GROUPS BETWEEN &lt;start&gt; AND &lt;end&gt;.</a:t>
            </a:r>
            <a:endParaRPr lang="en-US" sz="1700" dirty="0"/>
          </a:p>
        </p:txBody>
      </p:sp>
      <p:sp>
        <p:nvSpPr>
          <p:cNvPr id="9" name="Number 3"/>
          <p:cNvSpPr/>
          <p:nvPr/>
        </p:nvSpPr>
        <p:spPr>
          <a:xfrm>
            <a:off x="548640" y="37490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61188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ROWS counts rows; RANGE groups ties; GROUPS counts tie-groups.</a:t>
            </a:r>
            <a:endParaRPr lang="en-US" sz="1700" dirty="0"/>
          </a:p>
        </p:txBody>
      </p:sp>
      <p:sp>
        <p:nvSpPr>
          <p:cNvPr id="12" name="Number 4"/>
          <p:cNvSpPr/>
          <p:nvPr/>
        </p:nvSpPr>
        <p:spPr>
          <a:xfrm>
            <a:off x="548640" y="489204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892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75488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Default with ORDER BY stops at CURRENT ROW — watch out for LAST_VALUE.</a:t>
            </a:r>
            <a:endParaRPr lang="en-US" sz="1700" dirty="0"/>
          </a:p>
        </p:txBody>
      </p:sp>
      <p:sp>
        <p:nvSpPr>
          <p:cNvPr id="15" name="Practice card"/>
          <p:cNvSpPr/>
          <p:nvPr/>
        </p:nvSpPr>
        <p:spPr>
          <a:xfrm>
            <a:off x="7498080" y="1371600"/>
            <a:ext cx="4114800" cy="4297680"/>
          </a:xfrm>
          <a:prstGeom prst="roundRect">
            <a:avLst>
              <a:gd name="adj" fmla="val 2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0" y="15544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Practice on the sales table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0" y="2148840"/>
            <a:ext cx="36118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chemeClr val="bg1"/>
                </a:solidFill>
              </a:rPr>
              <a:t>Running COUNT of days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chemeClr val="bg1"/>
                </a:solidFill>
              </a:rPr>
              <a:t>2-day moving SUM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chemeClr val="bg1"/>
                </a:solidFill>
              </a:rPr>
              <a:t>MAX amount of the whole week on every row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chemeClr val="bg1"/>
                </a:solidFill>
              </a:rPr>
              <a:t>Difference from the next day's amount (1 FOLLOWING)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chemeClr val="bg1"/>
                </a:solidFill>
              </a:rPr>
              <a:t>Compare ROWS vs RANGE on a table with duplicate dates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QL Frames">
  <a:themeElements>
    <a:clrScheme name="SQL Frames">
      <a:dk1>
        <a:srgbClr val="17202E"/>
      </a:dk1>
      <a:lt1>
        <a:srgbClr val="FFFFFF"/>
      </a:lt1>
      <a:dk2>
        <a:srgbClr val="0F3D3E"/>
      </a:dk2>
      <a:lt2>
        <a:srgbClr val="DCEFEC"/>
      </a:lt2>
      <a:accent1>
        <a:srgbClr val="0E7C7B"/>
      </a:accent1>
      <a:accent2>
        <a:srgbClr val="F2A541"/>
      </a:accent2>
      <a:accent3>
        <a:srgbClr val="D1495B"/>
      </a:accent3>
      <a:accent4>
        <a:srgbClr val="5B8DEF"/>
      </a:accent4>
      <a:accent5>
        <a:srgbClr val="7A8B99"/>
      </a:accent5>
      <a:accent6>
        <a:srgbClr val="2A9D8F"/>
      </a:accent6>
      <a:hlink>
        <a:srgbClr val="0E7C7B"/>
      </a:hlink>
      <a:folHlink>
        <a:srgbClr val="5B8DEF"/>
      </a:folHlink>
    </a:clrScheme>
    <a:fontScheme name="SQL Frame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2031</Words>
  <Application>Microsoft Office PowerPoint</Application>
  <PresentationFormat>Widescreen</PresentationFormat>
  <Paragraphs>555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Courier New</vt:lpstr>
      <vt:lpstr>SQL Frames</vt:lpstr>
      <vt:lpstr>SQL Window Frames</vt:lpstr>
      <vt:lpstr>What is a Window Frame?</vt:lpstr>
      <vt:lpstr>Frame Syntax</vt:lpstr>
      <vt:lpstr>Frame Boundaries — Visual Guide</vt:lpstr>
      <vt:lpstr>Our Sample Table: sales</vt:lpstr>
      <vt:lpstr>Example 1: Running Total</vt:lpstr>
      <vt:lpstr>Example 2: 3-Day Moving Average</vt:lpstr>
      <vt:lpstr>Example 3: Centered Window</vt:lpstr>
      <vt:lpstr>Example 4: Whole Partition (% of Total)</vt:lpstr>
      <vt:lpstr>Example 5: Remaining Total</vt:lpstr>
      <vt:lpstr>Example 6: The LAST_VALUE Trap</vt:lpstr>
      <vt:lpstr>ROWS vs RANGE — Ties Matter</vt:lpstr>
      <vt:lpstr>Example 7: Frame Inside Each Partition</vt:lpstr>
      <vt:lpstr>Default Frame Rules</vt:lpstr>
      <vt:lpstr>Advanced: RANGE with Interval &amp; GROUPS</vt:lpstr>
      <vt:lpstr>Cheat Sheet: Pick the Right Frame</vt:lpstr>
      <vt:lpstr>Key Takeaways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Window Frames – English</dc:title>
  <dc:subject>PptxGenJS Presentation</dc:subject>
  <dc:creator>Himanshu Tiwari</dc:creator>
  <cp:lastModifiedBy>PradeepRai</cp:lastModifiedBy>
  <cp:revision>1</cp:revision>
  <dcterms:created xsi:type="dcterms:W3CDTF">2026-10-31T08:21:01Z</dcterms:created>
  <dcterms:modified xsi:type="dcterms:W3CDTF">2026-10-31T08:52:59Z</dcterms:modified>
</cp:coreProperties>
</file>